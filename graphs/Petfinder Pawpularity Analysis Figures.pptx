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5F1FD"/>
    <a:srgbClr val="E5D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97826-18CC-C968-0006-47D20CC832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B753BC-AD53-0D4B-DC35-27DD4DD52B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E4BD3F-50F6-FD4A-4540-2A81E42DB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58B13-8FB1-4D1A-9DD5-32A2324127C6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3EC5F9-E275-F24E-EC20-EDFCDDC1C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F1287F-2DD3-689D-5698-631623FC6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63AB3-0AAA-41D1-AF23-304ACECFB7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316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C954A-B209-89EF-C29F-9A3F4A94F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5E220F-7E35-6676-FF83-7B407AD613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2DD292-5447-CB00-A028-2F3516AAF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58B13-8FB1-4D1A-9DD5-32A2324127C6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24C23-FF0F-5F54-01E0-D3AFE7B02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83E674-3349-7273-AACB-FF2A819DE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63AB3-0AAA-41D1-AF23-304ACECFB7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261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87113-1FD3-0768-E1A1-7D785C601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777FF9-848E-89BE-B8FE-11F55944C3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D9C8CE-31A6-421F-D36E-AF50CB7F4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58B13-8FB1-4D1A-9DD5-32A2324127C6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E30DB0-1BB6-1652-2B01-AF2AE2DDF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C0CF35-AE58-1135-11C6-598CD80A3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63AB3-0AAA-41D1-AF23-304ACECFB7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839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14F25-8096-5631-B8AA-BB6A43EE4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9BB8D-A358-1982-0D91-87742B011C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4BBA72-1008-1287-C031-DD05132C92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8D4A81-227C-E27B-B963-62B2FA62F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58B13-8FB1-4D1A-9DD5-32A2324127C6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4993A3-963D-797D-6C3D-78A04CFF4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7472A5-D28B-684D-E02B-882428878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63AB3-0AAA-41D1-AF23-304ACECFB7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7024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9B77F-0041-E0A9-1F66-ABADBCF78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F2000E-7AE5-6877-08D7-E8EE54D17B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0E7EAA-5810-604F-12A9-860CBA026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6F0C0A-FEB5-E008-AD14-8319CDE4D9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B947D2-4F56-62AE-DAD3-A25339FC60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6CF891-D275-8E5F-483F-91624DD86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58B13-8FB1-4D1A-9DD5-32A2324127C6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57ABAE-1325-A5D5-726C-3C6BD7602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F60222-87F9-305F-92DA-9384BFC42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63AB3-0AAA-41D1-AF23-304ACECFB7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454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F030B-C356-5442-3AA7-CA3D82C41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8E2984-1811-0249-7ED4-89714BCDC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58B13-8FB1-4D1A-9DD5-32A2324127C6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A3DD2C-0451-8DBC-CF9E-1255D4C18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02FAD2-A763-2DCF-1BEE-1CF23B00E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63AB3-0AAA-41D1-AF23-304ACECFB7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406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C9680A-E9A8-0FE2-CFBA-303218D1F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58B13-8FB1-4D1A-9DD5-32A2324127C6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362E0D-7D30-E5A9-C2F0-4E8976B35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18DF12-7863-6871-A58E-396E2359B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63AB3-0AAA-41D1-AF23-304ACECFB7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422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4D216-D87D-4EBE-958E-DFBBF5350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3995AA-3FBA-CAAF-39DD-163CB376D6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4E49D2-D82F-63C5-4671-6DEA39121F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B7EBCC-275D-FC71-09E3-18408FA18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58B13-8FB1-4D1A-9DD5-32A2324127C6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600589-C6ED-6F31-A1DC-5280C9188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292150-9754-91D6-0BB4-8D94708D7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63AB3-0AAA-41D1-AF23-304ACECFB7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714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09FD2-77FD-3DC7-CDA5-B6717E4F4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C490C9-029F-7CDE-63C6-51AEDEE5A7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955AC1-7341-6061-A64B-CF5A36B2E6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5459C7-FC17-308E-6412-0DE6BF4E7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58B13-8FB1-4D1A-9DD5-32A2324127C6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399A05-F4D7-D8D5-A159-9E4E928B1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042643-141D-012D-A061-F4E556EDC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63AB3-0AAA-41D1-AF23-304ACECFB7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438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57613-4AC1-43B1-C094-83AE84B14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62866-8923-AFA9-A153-54508F4B7B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41C46-5072-3260-B777-CED5FF6AB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58B13-8FB1-4D1A-9DD5-32A2324127C6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8D4713-705E-AC69-9C82-BBE42C608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9E57ED-5E5E-7359-0972-FD978360B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63AB3-0AAA-41D1-AF23-304ACECFB7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010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CD5C97-6DC5-0D8B-2D79-7F5A817F26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C37376-DBB5-EEB4-5421-9391C856FD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7428D-4A83-12EB-7574-C0B2C17DD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58B13-8FB1-4D1A-9DD5-32A2324127C6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E6BFFA-CD6D-826B-F77C-A936C085A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93F74B-32E4-1320-C411-6AC3B8281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63AB3-0AAA-41D1-AF23-304ACECFB7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837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F03928-C4A0-BD01-BE00-61550A91E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E5B8E9-915A-BC43-5A2A-934A617879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351FFC-EB15-34FF-02F5-33467C7555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258B13-8FB1-4D1A-9DD5-32A2324127C6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E9E240-A9A2-854C-823E-B47143E83E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FDAE40-5641-547C-6B4E-60D33C0901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B63AB3-0AAA-41D1-AF23-304ACECFB7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5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cat&#10;&#10;AI-generated content may be incorrect.">
            <a:extLst>
              <a:ext uri="{FF2B5EF4-FFF2-40B4-BE49-F238E27FC236}">
                <a16:creationId xmlns:a16="http://schemas.microsoft.com/office/drawing/2014/main" id="{D01B4098-6328-16AF-01EF-8A18B48327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546" y="1183386"/>
            <a:ext cx="767334" cy="767334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D98572F-A0FB-179D-24BF-55BE23E6C204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1325880" y="1567053"/>
            <a:ext cx="60350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03F4854-BE2C-1FA0-D4A0-4B1DF37BF3E9}"/>
              </a:ext>
            </a:extLst>
          </p:cNvPr>
          <p:cNvSpPr txBox="1"/>
          <p:nvPr/>
        </p:nvSpPr>
        <p:spPr>
          <a:xfrm>
            <a:off x="613308" y="1950720"/>
            <a:ext cx="5938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Image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0166A6-9340-E305-1ABE-2E4E225A9482}"/>
              </a:ext>
            </a:extLst>
          </p:cNvPr>
          <p:cNvSpPr/>
          <p:nvPr/>
        </p:nvSpPr>
        <p:spPr>
          <a:xfrm>
            <a:off x="1929384" y="1183386"/>
            <a:ext cx="163830" cy="837437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52CCDE2-30E2-8ABF-8B52-3773DF09F4E2}"/>
              </a:ext>
            </a:extLst>
          </p:cNvPr>
          <p:cNvSpPr/>
          <p:nvPr/>
        </p:nvSpPr>
        <p:spPr>
          <a:xfrm>
            <a:off x="2093214" y="1030986"/>
            <a:ext cx="163830" cy="1072134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E71A6C2-2287-56C7-5E3B-9E3226432DAA}"/>
              </a:ext>
            </a:extLst>
          </p:cNvPr>
          <p:cNvSpPr/>
          <p:nvPr/>
        </p:nvSpPr>
        <p:spPr>
          <a:xfrm>
            <a:off x="2257044" y="877824"/>
            <a:ext cx="138684" cy="1405819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7CC4AC-210B-4B3D-1DD5-116526F1AC7F}"/>
              </a:ext>
            </a:extLst>
          </p:cNvPr>
          <p:cNvSpPr txBox="1"/>
          <p:nvPr/>
        </p:nvSpPr>
        <p:spPr>
          <a:xfrm>
            <a:off x="1725930" y="2283643"/>
            <a:ext cx="13264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Image Backbone 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EBAF777-E4B2-EBC3-B866-3C4917B685A4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2395728" y="1580734"/>
            <a:ext cx="813816" cy="354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BD4789B7-5FF4-A08A-03EA-0D3D113DB298}"/>
              </a:ext>
            </a:extLst>
          </p:cNvPr>
          <p:cNvSpPr/>
          <p:nvPr/>
        </p:nvSpPr>
        <p:spPr>
          <a:xfrm>
            <a:off x="3209544" y="1271016"/>
            <a:ext cx="788670" cy="74979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Image Feature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A2F15078-862A-F233-6C93-DD29AD46F9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4048778"/>
              </p:ext>
            </p:extLst>
          </p:nvPr>
        </p:nvGraphicFramePr>
        <p:xfrm>
          <a:off x="761642" y="2995053"/>
          <a:ext cx="294005" cy="2026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005">
                  <a:extLst>
                    <a:ext uri="{9D8B030D-6E8A-4147-A177-3AD203B41FA5}">
                      <a16:colId xmlns:a16="http://schemas.microsoft.com/office/drawing/2014/main" val="30828684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82086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1764583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</a:t>
                      </a:r>
                    </a:p>
                    <a:p>
                      <a:pPr algn="ctr"/>
                      <a:r>
                        <a:rPr lang="en-US" dirty="0"/>
                        <a:t>.</a:t>
                      </a:r>
                    </a:p>
                    <a:p>
                      <a:pPr algn="ctr"/>
                      <a:r>
                        <a:rPr lang="en-US" dirty="0"/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699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6811975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9521CDBC-E834-B9DD-3732-30B54C1DA633}"/>
              </a:ext>
            </a:extLst>
          </p:cNvPr>
          <p:cNvSpPr txBox="1"/>
          <p:nvPr/>
        </p:nvSpPr>
        <p:spPr>
          <a:xfrm>
            <a:off x="520285" y="5117211"/>
            <a:ext cx="8169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Metadata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CC83CEC-3EA1-9694-8258-026ED0F78936}"/>
              </a:ext>
            </a:extLst>
          </p:cNvPr>
          <p:cNvSpPr/>
          <p:nvPr/>
        </p:nvSpPr>
        <p:spPr>
          <a:xfrm>
            <a:off x="4761234" y="2275037"/>
            <a:ext cx="896112" cy="749796"/>
          </a:xfrm>
          <a:prstGeom prst="rect">
            <a:avLst/>
          </a:prstGeom>
          <a:solidFill>
            <a:srgbClr val="F5F1FD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Prediction Model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A67538C-1413-A42B-73AA-708EFC629B1B}"/>
              </a:ext>
            </a:extLst>
          </p:cNvPr>
          <p:cNvCxnSpPr>
            <a:cxnSpLocks/>
            <a:stCxn id="23" idx="3"/>
          </p:cNvCxnSpPr>
          <p:nvPr/>
        </p:nvCxnSpPr>
        <p:spPr>
          <a:xfrm>
            <a:off x="5657346" y="2649935"/>
            <a:ext cx="486156" cy="121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05F1B832-B6C1-C2D7-FDEE-25C2D425875E}"/>
              </a:ext>
            </a:extLst>
          </p:cNvPr>
          <p:cNvSpPr/>
          <p:nvPr/>
        </p:nvSpPr>
        <p:spPr>
          <a:xfrm>
            <a:off x="6143502" y="2430018"/>
            <a:ext cx="987552" cy="4331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Output</a:t>
            </a:r>
            <a:endParaRPr lang="en-US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1FF79C3-4E54-A288-2591-B6A7E5759FD3}"/>
              </a:ext>
            </a:extLst>
          </p:cNvPr>
          <p:cNvSpPr/>
          <p:nvPr/>
        </p:nvSpPr>
        <p:spPr>
          <a:xfrm>
            <a:off x="3310958" y="2385060"/>
            <a:ext cx="788670" cy="67178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Fusion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08EA67A-9F19-72FA-6654-0B4C443FC3FE}"/>
              </a:ext>
            </a:extLst>
          </p:cNvPr>
          <p:cNvSpPr/>
          <p:nvPr/>
        </p:nvSpPr>
        <p:spPr>
          <a:xfrm>
            <a:off x="1872105" y="3510976"/>
            <a:ext cx="1047245" cy="994682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GBDT/MLP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AEBB18C-4691-071A-9FF6-D45A57C51925}"/>
              </a:ext>
            </a:extLst>
          </p:cNvPr>
          <p:cNvCxnSpPr>
            <a:cxnSpLocks/>
            <a:stCxn id="18" idx="3"/>
            <a:endCxn id="32" idx="1"/>
          </p:cNvCxnSpPr>
          <p:nvPr/>
        </p:nvCxnSpPr>
        <p:spPr>
          <a:xfrm flipV="1">
            <a:off x="1055647" y="4008317"/>
            <a:ext cx="816458" cy="1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FE5BD711-8F8C-F53C-3CB3-FCF757A94A1A}"/>
              </a:ext>
            </a:extLst>
          </p:cNvPr>
          <p:cNvCxnSpPr>
            <a:stCxn id="32" idx="3"/>
            <a:endCxn id="28" idx="2"/>
          </p:cNvCxnSpPr>
          <p:nvPr/>
        </p:nvCxnSpPr>
        <p:spPr>
          <a:xfrm flipV="1">
            <a:off x="2919350" y="3056843"/>
            <a:ext cx="785943" cy="95147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4715CEB-87FD-A411-83AA-732574FD5012}"/>
              </a:ext>
            </a:extLst>
          </p:cNvPr>
          <p:cNvCxnSpPr>
            <a:cxnSpLocks/>
          </p:cNvCxnSpPr>
          <p:nvPr/>
        </p:nvCxnSpPr>
        <p:spPr>
          <a:xfrm>
            <a:off x="3705293" y="2020812"/>
            <a:ext cx="0" cy="3642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3CEAC06-2BF6-8752-F1D0-F5E43E316C15}"/>
              </a:ext>
            </a:extLst>
          </p:cNvPr>
          <p:cNvCxnSpPr>
            <a:cxnSpLocks/>
            <a:endCxn id="23" idx="1"/>
          </p:cNvCxnSpPr>
          <p:nvPr/>
        </p:nvCxnSpPr>
        <p:spPr>
          <a:xfrm>
            <a:off x="4099628" y="2646584"/>
            <a:ext cx="661606" cy="33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A58E6623-67B2-8C2A-37A0-6724E55341F4}"/>
              </a:ext>
            </a:extLst>
          </p:cNvPr>
          <p:cNvCxnSpPr>
            <a:cxnSpLocks/>
            <a:endCxn id="26" idx="2"/>
          </p:cNvCxnSpPr>
          <p:nvPr/>
        </p:nvCxnSpPr>
        <p:spPr>
          <a:xfrm flipV="1">
            <a:off x="3705293" y="2863150"/>
            <a:ext cx="2931985" cy="114516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BA411081-A3E2-8315-E340-3C02BCB63BB2}"/>
              </a:ext>
            </a:extLst>
          </p:cNvPr>
          <p:cNvSpPr txBox="1"/>
          <p:nvPr/>
        </p:nvSpPr>
        <p:spPr>
          <a:xfrm>
            <a:off x="4031398" y="4008317"/>
            <a:ext cx="919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No</a:t>
            </a:r>
            <a:r>
              <a:rPr lang="en-US" dirty="0"/>
              <a:t>  </a:t>
            </a:r>
            <a:r>
              <a:rPr lang="en-US" sz="1200" dirty="0"/>
              <a:t>Fusion</a:t>
            </a:r>
          </a:p>
        </p:txBody>
      </p: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768A3F6D-F38D-089B-5A87-3BA160A85271}"/>
              </a:ext>
            </a:extLst>
          </p:cNvPr>
          <p:cNvCxnSpPr>
            <a:cxnSpLocks/>
            <a:stCxn id="16" idx="3"/>
            <a:endCxn id="26" idx="0"/>
          </p:cNvCxnSpPr>
          <p:nvPr/>
        </p:nvCxnSpPr>
        <p:spPr>
          <a:xfrm>
            <a:off x="3998214" y="1645914"/>
            <a:ext cx="2639064" cy="78410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DC028847-BEB1-8681-A638-72F1DDC4C76E}"/>
              </a:ext>
            </a:extLst>
          </p:cNvPr>
          <p:cNvSpPr txBox="1"/>
          <p:nvPr/>
        </p:nvSpPr>
        <p:spPr>
          <a:xfrm>
            <a:off x="4761234" y="1339167"/>
            <a:ext cx="8587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No Fusion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E67D537-AB8B-1C41-85F9-2C768166A16D}"/>
              </a:ext>
            </a:extLst>
          </p:cNvPr>
          <p:cNvSpPr txBox="1"/>
          <p:nvPr/>
        </p:nvSpPr>
        <p:spPr>
          <a:xfrm>
            <a:off x="6282813" y="427703"/>
            <a:ext cx="15436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Figure 1: Pipeline </a:t>
            </a:r>
          </a:p>
        </p:txBody>
      </p:sp>
      <p:sp>
        <p:nvSpPr>
          <p:cNvPr id="6" name="Flowchart: Decision 5">
            <a:extLst>
              <a:ext uri="{FF2B5EF4-FFF2-40B4-BE49-F238E27FC236}">
                <a16:creationId xmlns:a16="http://schemas.microsoft.com/office/drawing/2014/main" id="{5A0A9110-A729-9404-86E3-CDE5E0096FDE}"/>
              </a:ext>
            </a:extLst>
          </p:cNvPr>
          <p:cNvSpPr/>
          <p:nvPr/>
        </p:nvSpPr>
        <p:spPr>
          <a:xfrm>
            <a:off x="3491359" y="3784289"/>
            <a:ext cx="427867" cy="448056"/>
          </a:xfrm>
          <a:prstGeom prst="flowChartDecision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318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E3941-5C5D-FE3C-78B2-D7087180F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cat&#10;&#10;AI-generated content may be incorrect.">
            <a:extLst>
              <a:ext uri="{FF2B5EF4-FFF2-40B4-BE49-F238E27FC236}">
                <a16:creationId xmlns:a16="http://schemas.microsoft.com/office/drawing/2014/main" id="{86A12AB2-7881-6A67-4561-AC39C9935C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546" y="1183386"/>
            <a:ext cx="767334" cy="767334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AF177D1-D992-47D8-1296-04DDDE1D4F2D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1325880" y="1567053"/>
            <a:ext cx="60350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3C8A340-58E4-0EAB-924A-F3F7066390B5}"/>
              </a:ext>
            </a:extLst>
          </p:cNvPr>
          <p:cNvSpPr txBox="1"/>
          <p:nvPr/>
        </p:nvSpPr>
        <p:spPr>
          <a:xfrm>
            <a:off x="613308" y="1950720"/>
            <a:ext cx="5938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Image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666740-8116-B594-3BDF-C60EA72AD1C4}"/>
              </a:ext>
            </a:extLst>
          </p:cNvPr>
          <p:cNvSpPr/>
          <p:nvPr/>
        </p:nvSpPr>
        <p:spPr>
          <a:xfrm>
            <a:off x="1929384" y="1183386"/>
            <a:ext cx="163830" cy="837437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25123E-97FF-77B9-6FA3-AA632CE08664}"/>
              </a:ext>
            </a:extLst>
          </p:cNvPr>
          <p:cNvSpPr/>
          <p:nvPr/>
        </p:nvSpPr>
        <p:spPr>
          <a:xfrm>
            <a:off x="2093214" y="1030986"/>
            <a:ext cx="163830" cy="1072134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0F408D-E348-F373-4BDA-3326E93A41E4}"/>
              </a:ext>
            </a:extLst>
          </p:cNvPr>
          <p:cNvSpPr/>
          <p:nvPr/>
        </p:nvSpPr>
        <p:spPr>
          <a:xfrm>
            <a:off x="2257044" y="877824"/>
            <a:ext cx="138684" cy="1405819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0DFDD5-1324-930D-7FF4-F026B7841B94}"/>
              </a:ext>
            </a:extLst>
          </p:cNvPr>
          <p:cNvSpPr txBox="1"/>
          <p:nvPr/>
        </p:nvSpPr>
        <p:spPr>
          <a:xfrm>
            <a:off x="1725930" y="2283643"/>
            <a:ext cx="13264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Image Backbone 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A02A649-CDBA-E595-E23F-4E58E719799B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2395728" y="1580734"/>
            <a:ext cx="813816" cy="354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17BEAE70-2116-1A2B-13E2-F8348BEAD2CA}"/>
              </a:ext>
            </a:extLst>
          </p:cNvPr>
          <p:cNvSpPr/>
          <p:nvPr/>
        </p:nvSpPr>
        <p:spPr>
          <a:xfrm>
            <a:off x="3209544" y="1271016"/>
            <a:ext cx="788670" cy="74979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Image Feature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F1DDBFB3-77FC-41DD-A075-C50EBC3C21A1}"/>
              </a:ext>
            </a:extLst>
          </p:cNvPr>
          <p:cNvGraphicFramePr>
            <a:graphicFrameLocks noGrp="1"/>
          </p:cNvGraphicFramePr>
          <p:nvPr/>
        </p:nvGraphicFramePr>
        <p:xfrm>
          <a:off x="761642" y="2995053"/>
          <a:ext cx="294005" cy="2026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005">
                  <a:extLst>
                    <a:ext uri="{9D8B030D-6E8A-4147-A177-3AD203B41FA5}">
                      <a16:colId xmlns:a16="http://schemas.microsoft.com/office/drawing/2014/main" val="30828684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82086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1764583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</a:t>
                      </a:r>
                    </a:p>
                    <a:p>
                      <a:pPr algn="ctr"/>
                      <a:r>
                        <a:rPr lang="en-US" dirty="0"/>
                        <a:t>.</a:t>
                      </a:r>
                    </a:p>
                    <a:p>
                      <a:pPr algn="ctr"/>
                      <a:r>
                        <a:rPr lang="en-US" dirty="0"/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699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6811975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3A430BB8-5F81-EFF1-FE0F-640CDCAEAF09}"/>
              </a:ext>
            </a:extLst>
          </p:cNvPr>
          <p:cNvSpPr txBox="1"/>
          <p:nvPr/>
        </p:nvSpPr>
        <p:spPr>
          <a:xfrm>
            <a:off x="520285" y="5117211"/>
            <a:ext cx="8169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Metadata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0BC8A73-86AA-07D9-2826-436141EEFF81}"/>
              </a:ext>
            </a:extLst>
          </p:cNvPr>
          <p:cNvSpPr/>
          <p:nvPr/>
        </p:nvSpPr>
        <p:spPr>
          <a:xfrm>
            <a:off x="4761234" y="2275037"/>
            <a:ext cx="896112" cy="749796"/>
          </a:xfrm>
          <a:prstGeom prst="rect">
            <a:avLst/>
          </a:prstGeom>
          <a:solidFill>
            <a:srgbClr val="F5F1FD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Prediction Model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1B38791-D635-54CE-554F-CD7DE0B53D04}"/>
              </a:ext>
            </a:extLst>
          </p:cNvPr>
          <p:cNvCxnSpPr>
            <a:cxnSpLocks/>
            <a:stCxn id="23" idx="3"/>
          </p:cNvCxnSpPr>
          <p:nvPr/>
        </p:nvCxnSpPr>
        <p:spPr>
          <a:xfrm>
            <a:off x="5657346" y="2649935"/>
            <a:ext cx="486156" cy="121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95FB9715-A394-3FAC-8A9A-7C59F68DDC8D}"/>
              </a:ext>
            </a:extLst>
          </p:cNvPr>
          <p:cNvSpPr/>
          <p:nvPr/>
        </p:nvSpPr>
        <p:spPr>
          <a:xfrm>
            <a:off x="6143502" y="2430018"/>
            <a:ext cx="987552" cy="4331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Output</a:t>
            </a:r>
            <a:endParaRPr lang="en-US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FB72EFD-8E39-3D26-9529-D5A0B17B34D0}"/>
              </a:ext>
            </a:extLst>
          </p:cNvPr>
          <p:cNvSpPr/>
          <p:nvPr/>
        </p:nvSpPr>
        <p:spPr>
          <a:xfrm>
            <a:off x="3310958" y="2385060"/>
            <a:ext cx="788670" cy="67178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Early Fusion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C9F8756-2F3D-792C-F82C-9F538148233E}"/>
              </a:ext>
            </a:extLst>
          </p:cNvPr>
          <p:cNvSpPr/>
          <p:nvPr/>
        </p:nvSpPr>
        <p:spPr>
          <a:xfrm>
            <a:off x="1872105" y="3510976"/>
            <a:ext cx="1047245" cy="994682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MLP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6223EF3-C3C3-FC6B-EF34-DE2233263193}"/>
              </a:ext>
            </a:extLst>
          </p:cNvPr>
          <p:cNvCxnSpPr>
            <a:cxnSpLocks/>
            <a:stCxn id="18" idx="3"/>
            <a:endCxn id="32" idx="1"/>
          </p:cNvCxnSpPr>
          <p:nvPr/>
        </p:nvCxnSpPr>
        <p:spPr>
          <a:xfrm flipV="1">
            <a:off x="1055647" y="4008317"/>
            <a:ext cx="816458" cy="1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4C0AE875-6197-2B8F-148A-5711C0A65F3A}"/>
              </a:ext>
            </a:extLst>
          </p:cNvPr>
          <p:cNvCxnSpPr>
            <a:stCxn id="32" idx="3"/>
            <a:endCxn id="28" idx="2"/>
          </p:cNvCxnSpPr>
          <p:nvPr/>
        </p:nvCxnSpPr>
        <p:spPr>
          <a:xfrm flipV="1">
            <a:off x="2919350" y="3056843"/>
            <a:ext cx="785943" cy="95147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2472DCD-A3B4-3BF3-47BC-1A7C846CCA15}"/>
              </a:ext>
            </a:extLst>
          </p:cNvPr>
          <p:cNvCxnSpPr>
            <a:cxnSpLocks/>
          </p:cNvCxnSpPr>
          <p:nvPr/>
        </p:nvCxnSpPr>
        <p:spPr>
          <a:xfrm>
            <a:off x="3705293" y="2020812"/>
            <a:ext cx="0" cy="3642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D215389-1E48-A84E-567D-12978C526D22}"/>
              </a:ext>
            </a:extLst>
          </p:cNvPr>
          <p:cNvCxnSpPr>
            <a:cxnSpLocks/>
            <a:endCxn id="23" idx="1"/>
          </p:cNvCxnSpPr>
          <p:nvPr/>
        </p:nvCxnSpPr>
        <p:spPr>
          <a:xfrm>
            <a:off x="4099628" y="2646584"/>
            <a:ext cx="661606" cy="33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26CBD3C-738B-C5EB-3EC9-DD74B73AD291}"/>
              </a:ext>
            </a:extLst>
          </p:cNvPr>
          <p:cNvSpPr txBox="1"/>
          <p:nvPr/>
        </p:nvSpPr>
        <p:spPr>
          <a:xfrm>
            <a:off x="6282813" y="427703"/>
            <a:ext cx="18606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Figure 2: Early Fusion </a:t>
            </a:r>
          </a:p>
        </p:txBody>
      </p:sp>
    </p:spTree>
    <p:extLst>
      <p:ext uri="{BB962C8B-B14F-4D97-AF65-F5344CB8AC3E}">
        <p14:creationId xmlns:p14="http://schemas.microsoft.com/office/powerpoint/2010/main" val="1308558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42B67-ADE4-6870-EAE5-17FD51057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cat&#10;&#10;AI-generated content may be incorrect.">
            <a:extLst>
              <a:ext uri="{FF2B5EF4-FFF2-40B4-BE49-F238E27FC236}">
                <a16:creationId xmlns:a16="http://schemas.microsoft.com/office/drawing/2014/main" id="{A68ECE4D-F335-A95A-1224-3BC4951F59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546" y="1183386"/>
            <a:ext cx="767334" cy="767334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4CE3838-3B29-A722-2535-9ABA7055A1D3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1325880" y="1567053"/>
            <a:ext cx="60350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176EC19-4DA5-871C-CFED-DB565EEE23CF}"/>
              </a:ext>
            </a:extLst>
          </p:cNvPr>
          <p:cNvSpPr txBox="1"/>
          <p:nvPr/>
        </p:nvSpPr>
        <p:spPr>
          <a:xfrm>
            <a:off x="613308" y="1950720"/>
            <a:ext cx="5938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Image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FCA9E8-5B03-EECF-3681-1E02DB0F96EE}"/>
              </a:ext>
            </a:extLst>
          </p:cNvPr>
          <p:cNvSpPr/>
          <p:nvPr/>
        </p:nvSpPr>
        <p:spPr>
          <a:xfrm>
            <a:off x="1929384" y="1183386"/>
            <a:ext cx="163830" cy="837437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4F3958-6ED0-08B2-1971-D0644A6E5674}"/>
              </a:ext>
            </a:extLst>
          </p:cNvPr>
          <p:cNvSpPr/>
          <p:nvPr/>
        </p:nvSpPr>
        <p:spPr>
          <a:xfrm>
            <a:off x="2093214" y="1030986"/>
            <a:ext cx="163830" cy="1072134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8E8F6FB-A414-0DAE-1D55-8AEC9AE80839}"/>
              </a:ext>
            </a:extLst>
          </p:cNvPr>
          <p:cNvSpPr/>
          <p:nvPr/>
        </p:nvSpPr>
        <p:spPr>
          <a:xfrm>
            <a:off x="2257044" y="877824"/>
            <a:ext cx="138684" cy="1405819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400575-A2AE-A6DC-334C-1F9656C52B72}"/>
              </a:ext>
            </a:extLst>
          </p:cNvPr>
          <p:cNvSpPr txBox="1"/>
          <p:nvPr/>
        </p:nvSpPr>
        <p:spPr>
          <a:xfrm>
            <a:off x="1725930" y="2283643"/>
            <a:ext cx="13264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Image Backbone 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103EEAF-8A8E-54D4-3350-9969CE6B4424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2395728" y="1580734"/>
            <a:ext cx="813816" cy="354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5050B125-F358-D2D3-3DA2-675F2F688703}"/>
              </a:ext>
            </a:extLst>
          </p:cNvPr>
          <p:cNvSpPr/>
          <p:nvPr/>
        </p:nvSpPr>
        <p:spPr>
          <a:xfrm>
            <a:off x="3209544" y="1271016"/>
            <a:ext cx="788670" cy="74979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Image Feature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2D96DF67-71E1-FFEE-16CA-FAE9DFA536D3}"/>
              </a:ext>
            </a:extLst>
          </p:cNvPr>
          <p:cNvGraphicFramePr>
            <a:graphicFrameLocks noGrp="1"/>
          </p:cNvGraphicFramePr>
          <p:nvPr/>
        </p:nvGraphicFramePr>
        <p:xfrm>
          <a:off x="761642" y="2995053"/>
          <a:ext cx="294005" cy="2026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005">
                  <a:extLst>
                    <a:ext uri="{9D8B030D-6E8A-4147-A177-3AD203B41FA5}">
                      <a16:colId xmlns:a16="http://schemas.microsoft.com/office/drawing/2014/main" val="30828684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82086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1764583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</a:t>
                      </a:r>
                    </a:p>
                    <a:p>
                      <a:pPr algn="ctr"/>
                      <a:r>
                        <a:rPr lang="en-US" dirty="0"/>
                        <a:t>.</a:t>
                      </a:r>
                    </a:p>
                    <a:p>
                      <a:pPr algn="ctr"/>
                      <a:r>
                        <a:rPr lang="en-US" dirty="0"/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699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6811975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CEEFF0BB-F53A-AFE7-9A5A-B951B122DF52}"/>
              </a:ext>
            </a:extLst>
          </p:cNvPr>
          <p:cNvSpPr txBox="1"/>
          <p:nvPr/>
        </p:nvSpPr>
        <p:spPr>
          <a:xfrm>
            <a:off x="520285" y="5117211"/>
            <a:ext cx="8169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Metadata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1C9887C-E507-E570-2EBF-FE6F1FDDEB1D}"/>
              </a:ext>
            </a:extLst>
          </p:cNvPr>
          <p:cNvSpPr/>
          <p:nvPr/>
        </p:nvSpPr>
        <p:spPr>
          <a:xfrm>
            <a:off x="4650007" y="1271016"/>
            <a:ext cx="896112" cy="749796"/>
          </a:xfrm>
          <a:prstGeom prst="rect">
            <a:avLst/>
          </a:prstGeom>
          <a:solidFill>
            <a:srgbClr val="F5F1FD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Prediction Model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37A0FED-6655-55D4-2967-9914FAD8E333}"/>
              </a:ext>
            </a:extLst>
          </p:cNvPr>
          <p:cNvCxnSpPr>
            <a:cxnSpLocks/>
          </p:cNvCxnSpPr>
          <p:nvPr/>
        </p:nvCxnSpPr>
        <p:spPr>
          <a:xfrm>
            <a:off x="5546119" y="2746691"/>
            <a:ext cx="48615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2FA4CC18-16A5-46B8-829E-4848665E3562}"/>
              </a:ext>
            </a:extLst>
          </p:cNvPr>
          <p:cNvSpPr/>
          <p:nvPr/>
        </p:nvSpPr>
        <p:spPr>
          <a:xfrm>
            <a:off x="6044081" y="2530125"/>
            <a:ext cx="987552" cy="4331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Output</a:t>
            </a:r>
            <a:endParaRPr lang="en-US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B01D419C-B29D-E305-40B8-A1E4D38BE592}"/>
              </a:ext>
            </a:extLst>
          </p:cNvPr>
          <p:cNvSpPr/>
          <p:nvPr/>
        </p:nvSpPr>
        <p:spPr>
          <a:xfrm>
            <a:off x="4745643" y="2410800"/>
            <a:ext cx="788670" cy="67178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Late Fusion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5DBD5D7-B6E6-B376-1295-E2DC209DA976}"/>
              </a:ext>
            </a:extLst>
          </p:cNvPr>
          <p:cNvSpPr/>
          <p:nvPr/>
        </p:nvSpPr>
        <p:spPr>
          <a:xfrm>
            <a:off x="1872105" y="3510976"/>
            <a:ext cx="1047245" cy="994682"/>
          </a:xfrm>
          <a:prstGeom prst="rect">
            <a:avLst/>
          </a:prstGeom>
          <a:solidFill>
            <a:srgbClr val="F5F1FD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GBDT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F0B2A38-8E83-6B6E-2AAB-F6FC507B6139}"/>
              </a:ext>
            </a:extLst>
          </p:cNvPr>
          <p:cNvCxnSpPr>
            <a:cxnSpLocks/>
            <a:stCxn id="18" idx="3"/>
            <a:endCxn id="32" idx="1"/>
          </p:cNvCxnSpPr>
          <p:nvPr/>
        </p:nvCxnSpPr>
        <p:spPr>
          <a:xfrm flipV="1">
            <a:off x="1055647" y="4008317"/>
            <a:ext cx="816458" cy="1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B0FA1F49-5123-B3AB-FB20-FC7154E8AA49}"/>
              </a:ext>
            </a:extLst>
          </p:cNvPr>
          <p:cNvCxnSpPr>
            <a:stCxn id="32" idx="3"/>
            <a:endCxn id="28" idx="2"/>
          </p:cNvCxnSpPr>
          <p:nvPr/>
        </p:nvCxnSpPr>
        <p:spPr>
          <a:xfrm flipV="1">
            <a:off x="2919350" y="3082583"/>
            <a:ext cx="2220628" cy="92573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0B20199-7B73-7FB2-2FE9-7F2FB09B6CB6}"/>
              </a:ext>
            </a:extLst>
          </p:cNvPr>
          <p:cNvCxnSpPr>
            <a:cxnSpLocks/>
          </p:cNvCxnSpPr>
          <p:nvPr/>
        </p:nvCxnSpPr>
        <p:spPr>
          <a:xfrm>
            <a:off x="5066826" y="2020812"/>
            <a:ext cx="0" cy="3642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45BC8A5-D00C-C0CB-FE1A-42D65EF5453F}"/>
              </a:ext>
            </a:extLst>
          </p:cNvPr>
          <p:cNvCxnSpPr>
            <a:cxnSpLocks/>
            <a:endCxn id="23" idx="1"/>
          </p:cNvCxnSpPr>
          <p:nvPr/>
        </p:nvCxnSpPr>
        <p:spPr>
          <a:xfrm>
            <a:off x="3988401" y="1642563"/>
            <a:ext cx="661606" cy="33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9ABCF0F-7040-109C-8883-B79825CA3017}"/>
              </a:ext>
            </a:extLst>
          </p:cNvPr>
          <p:cNvSpPr txBox="1"/>
          <p:nvPr/>
        </p:nvSpPr>
        <p:spPr>
          <a:xfrm>
            <a:off x="6961238" y="508492"/>
            <a:ext cx="17781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Figure 3: Late Fusion</a:t>
            </a:r>
          </a:p>
        </p:txBody>
      </p:sp>
    </p:spTree>
    <p:extLst>
      <p:ext uri="{BB962C8B-B14F-4D97-AF65-F5344CB8AC3E}">
        <p14:creationId xmlns:p14="http://schemas.microsoft.com/office/powerpoint/2010/main" val="3908249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863</TotalTime>
  <Words>64</Words>
  <Application>Microsoft Office PowerPoint</Application>
  <PresentationFormat>Widescreen</PresentationFormat>
  <Paragraphs>38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ALIGHIAS</dc:creator>
  <cp:lastModifiedBy>ALIGHIAS</cp:lastModifiedBy>
  <cp:revision>7</cp:revision>
  <dcterms:created xsi:type="dcterms:W3CDTF">2025-12-02T03:57:31Z</dcterms:created>
  <dcterms:modified xsi:type="dcterms:W3CDTF">2025-12-03T00:10:43Z</dcterms:modified>
</cp:coreProperties>
</file>