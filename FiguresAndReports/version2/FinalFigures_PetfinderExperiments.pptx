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E4DE"/>
    <a:srgbClr val="E1FF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75546-4E64-57AF-6F33-5E9BCDC25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7323F5-A634-AFC5-607F-9A1B5D93D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A81D1-6877-9498-00CC-A7CB3D075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A40F-C146-4EB8-982E-6D758AF8D4C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64C45-3758-6F4A-AC29-3DB2CEA67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58258-4823-48AC-1654-3DE029F6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108F-8EBA-4D0F-8165-C26EC95D7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895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16071-5740-48AF-2984-32FF0A33F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4222C-CEC8-05DB-4988-63962A294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A63C9-8406-5FF3-26AA-3A4B0A5A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A40F-C146-4EB8-982E-6D758AF8D4C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D1FA8-4043-C114-6D79-963AFFBFA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4DFBB-C20F-7DB9-9303-080199325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108F-8EBA-4D0F-8165-C26EC95D7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475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07343-61F6-C379-1292-71EB0906A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BFA6B-5680-1845-D750-FF18F4A39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162FA-CF95-055C-9FC6-601E6EA1C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A40F-C146-4EB8-982E-6D758AF8D4C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F4301-54AC-E66E-8266-593F97C2E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D68A3-DA84-7B5A-0271-4A3E95E4E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108F-8EBA-4D0F-8165-C26EC95D7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090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E9EAC-2A00-342B-930D-531743FD0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D9EF6-F2FE-C2C4-569B-C64FB9F3CD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32DAD-BBAB-6E5C-B42E-5D9B40722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11802-150C-6419-A1DE-8F19315F5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A40F-C146-4EB8-982E-6D758AF8D4C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AC35B-93A6-2E75-B810-69A18BA92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9971DA-CE4B-2FEE-096A-5FC76F6C9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108F-8EBA-4D0F-8165-C26EC95D7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74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F1978-0F7D-663F-9873-5AEE52095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76CC6-BCC8-2E13-9930-527A1A966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6F656-1AD5-836B-28B0-5F4B459C9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F1216A-93B6-DC5D-5E0A-6CF19D51F2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EA44C5-AC61-39A1-3B47-464B64FBB4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8D6F60-736A-BC1F-7573-12E61D7A3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A40F-C146-4EB8-982E-6D758AF8D4C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5E3D3B-0C81-ADA3-4B12-B62077317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6E9038-8FA5-CCBA-B164-A9B6A5F91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108F-8EBA-4D0F-8165-C26EC95D7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96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6005-0270-9DC5-4C2E-918B9786C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981F94-937D-EEB2-F807-B15BC90EE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A40F-C146-4EB8-982E-6D758AF8D4C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A71A9A-0768-6DC8-433C-193AAA87C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B38487-7B87-8070-B65C-3B511BA0F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108F-8EBA-4D0F-8165-C26EC95D7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562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FE664-C11E-6FC1-0A99-481D2A12C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A40F-C146-4EB8-982E-6D758AF8D4C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F5B46C-F13F-C6B4-A0BB-5263DCD42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F1FBD-E371-573D-5C0E-8A155D300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108F-8EBA-4D0F-8165-C26EC95D7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150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43CA9-39CD-FB1A-44B3-839FE4516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59CC9-CA8F-EBA5-6FF9-9C0E42BC1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D302F0-E359-BC54-62F8-212F8B520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B2F4A3-AF31-4CFB-6801-12A30814B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A40F-C146-4EB8-982E-6D758AF8D4C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A6C28-D1DD-45B7-C2B2-2D7842F3B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AE19DD-F953-D27D-8636-7903339B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108F-8EBA-4D0F-8165-C26EC95D7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045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9B341-0B61-7035-BE56-269CCFE02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716C58-AA4C-3C8E-69BB-837B6D7006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015090-E81D-5449-822D-75AB03F18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B0546-0403-AC4C-504E-05667AD1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A40F-C146-4EB8-982E-6D758AF8D4C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27943-0C39-FB39-330A-ECE7C201C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589AC-72AF-3D42-2FAE-62C46298B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108F-8EBA-4D0F-8165-C26EC95D7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66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B19C8-1854-C3D7-D82F-0031C102D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DEEF3-2C12-1B0A-D9D3-EEC8FE959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D9B84-ABF1-CD74-6E9E-A49515F2B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A40F-C146-4EB8-982E-6D758AF8D4C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6533D-D956-968C-98C3-BD44498C2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5A888-8ED7-93E7-85FE-DFFFA7BC5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108F-8EBA-4D0F-8165-C26EC95D7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732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03685E-AE57-663F-0F29-42C7D37E1B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474FA-F56C-4B81-E156-C820B30B7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3B2E8-09CF-2E68-7F6B-01E81F495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A40F-C146-4EB8-982E-6D758AF8D4C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06AA5-A909-FA6C-69B6-D1AFA1EC6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DB628-1EF7-583A-BA8C-DE4AE57A0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D108F-8EBA-4D0F-8165-C26EC95D7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274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8A475F-993D-4EC0-E076-EC41DCAC1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B658D-9C35-4D17-E60F-98C69C4B4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3165C-169C-FAC4-1959-C79CF07ABE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ABA40F-C146-4EB8-982E-6D758AF8D4C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33283-0D9E-47BB-B2BA-C12610651D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AB31F-67EC-4A4D-263C-12F39D49AC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ED108F-8EBA-4D0F-8165-C26EC95D7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229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4EA64-176F-D595-ABF8-00123556F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7BC50ADE-3A61-5DE7-E286-97DB9C11A553}"/>
              </a:ext>
            </a:extLst>
          </p:cNvPr>
          <p:cNvSpPr/>
          <p:nvPr/>
        </p:nvSpPr>
        <p:spPr>
          <a:xfrm>
            <a:off x="6385892" y="1993390"/>
            <a:ext cx="1362549" cy="1575127"/>
          </a:xfrm>
          <a:prstGeom prst="round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Late Fusion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Independent training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71E96CF-5589-CAA5-B224-1A529E651DBF}"/>
              </a:ext>
            </a:extLst>
          </p:cNvPr>
          <p:cNvSpPr/>
          <p:nvPr/>
        </p:nvSpPr>
        <p:spPr>
          <a:xfrm>
            <a:off x="3038003" y="983764"/>
            <a:ext cx="1532449" cy="237937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F725920-397E-F195-FF4C-59161FDE2F67}"/>
              </a:ext>
            </a:extLst>
          </p:cNvPr>
          <p:cNvCxnSpPr>
            <a:cxnSpLocks/>
          </p:cNvCxnSpPr>
          <p:nvPr/>
        </p:nvCxnSpPr>
        <p:spPr>
          <a:xfrm>
            <a:off x="1325880" y="1567053"/>
            <a:ext cx="6035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7BA1E9A-F3A9-02B3-7E1D-42F563F688B3}"/>
              </a:ext>
            </a:extLst>
          </p:cNvPr>
          <p:cNvSpPr txBox="1"/>
          <p:nvPr/>
        </p:nvSpPr>
        <p:spPr>
          <a:xfrm>
            <a:off x="613308" y="1950720"/>
            <a:ext cx="5938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Image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BD8DC5B-4FC5-9FBD-A2C0-062010B5F154}"/>
              </a:ext>
            </a:extLst>
          </p:cNvPr>
          <p:cNvGrpSpPr/>
          <p:nvPr/>
        </p:nvGrpSpPr>
        <p:grpSpPr>
          <a:xfrm>
            <a:off x="1929384" y="877824"/>
            <a:ext cx="466344" cy="1405819"/>
            <a:chOff x="1929384" y="877824"/>
            <a:chExt cx="466344" cy="1405819"/>
          </a:xfrm>
          <a:solidFill>
            <a:srgbClr val="F2E4DE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0DB7E48-949E-341E-B71A-4C288520EF77}"/>
                </a:ext>
              </a:extLst>
            </p:cNvPr>
            <p:cNvSpPr/>
            <p:nvPr/>
          </p:nvSpPr>
          <p:spPr>
            <a:xfrm>
              <a:off x="1929384" y="1183386"/>
              <a:ext cx="163830" cy="83743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DFDE120-F814-4B48-E141-4541564BFF1C}"/>
                </a:ext>
              </a:extLst>
            </p:cNvPr>
            <p:cNvSpPr/>
            <p:nvPr/>
          </p:nvSpPr>
          <p:spPr>
            <a:xfrm>
              <a:off x="2093214" y="1030986"/>
              <a:ext cx="163830" cy="107213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4D619B9-24D7-D4B8-4667-2F445D943F5A}"/>
                </a:ext>
              </a:extLst>
            </p:cNvPr>
            <p:cNvSpPr/>
            <p:nvPr/>
          </p:nvSpPr>
          <p:spPr>
            <a:xfrm>
              <a:off x="2257044" y="877824"/>
              <a:ext cx="138684" cy="140581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6A241D0-46E2-6BFE-D7E5-E544C0E01667}"/>
              </a:ext>
            </a:extLst>
          </p:cNvPr>
          <p:cNvSpPr txBox="1"/>
          <p:nvPr/>
        </p:nvSpPr>
        <p:spPr>
          <a:xfrm>
            <a:off x="1504447" y="2273911"/>
            <a:ext cx="1431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Image Backbone</a:t>
            </a:r>
          </a:p>
          <a:p>
            <a:pPr algn="ctr"/>
            <a:r>
              <a:rPr lang="en-US" sz="1200" dirty="0"/>
              <a:t>SWIN/EfficientNet 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473DC60-399A-C00B-ABCD-961FD4B3BD9C}"/>
              </a:ext>
            </a:extLst>
          </p:cNvPr>
          <p:cNvGraphicFramePr>
            <a:graphicFrameLocks noGrp="1"/>
          </p:cNvGraphicFramePr>
          <p:nvPr/>
        </p:nvGraphicFramePr>
        <p:xfrm>
          <a:off x="761642" y="2952359"/>
          <a:ext cx="351155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55">
                  <a:extLst>
                    <a:ext uri="{9D8B030D-6E8A-4147-A177-3AD203B41FA5}">
                      <a16:colId xmlns:a16="http://schemas.microsoft.com/office/drawing/2014/main" val="30828684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208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76458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</a:t>
                      </a:r>
                    </a:p>
                    <a:p>
                      <a:pPr algn="ctr"/>
                      <a:r>
                        <a:rPr lang="en-US" dirty="0"/>
                        <a:t>.</a:t>
                      </a:r>
                    </a:p>
                    <a:p>
                      <a:pPr algn="ctr"/>
                      <a:r>
                        <a:rPr lang="en-US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699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81197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6F66731-A451-8D5A-AFDE-D25DE6D137C5}"/>
              </a:ext>
            </a:extLst>
          </p:cNvPr>
          <p:cNvSpPr txBox="1"/>
          <p:nvPr/>
        </p:nvSpPr>
        <p:spPr>
          <a:xfrm>
            <a:off x="520285" y="5117211"/>
            <a:ext cx="1331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Metadata</a:t>
            </a:r>
          </a:p>
          <a:p>
            <a:pPr algn="ctr"/>
            <a:r>
              <a:rPr lang="en-US" sz="1200" dirty="0"/>
              <a:t>12 features(1x12)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E650CC-2FAE-0981-631A-F56C3A64730A}"/>
              </a:ext>
            </a:extLst>
          </p:cNvPr>
          <p:cNvSpPr/>
          <p:nvPr/>
        </p:nvSpPr>
        <p:spPr>
          <a:xfrm>
            <a:off x="4984396" y="2576177"/>
            <a:ext cx="987552" cy="3868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Output</a:t>
            </a:r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D9BC9A2-F84C-2AC1-60C5-5376B812CEC6}"/>
              </a:ext>
            </a:extLst>
          </p:cNvPr>
          <p:cNvSpPr/>
          <p:nvPr/>
        </p:nvSpPr>
        <p:spPr>
          <a:xfrm>
            <a:off x="3381375" y="1913520"/>
            <a:ext cx="1081179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(1, N+64)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concatenate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A3BF370-2526-E792-90EE-D98CB425EEF5}"/>
              </a:ext>
            </a:extLst>
          </p:cNvPr>
          <p:cNvCxnSpPr>
            <a:cxnSpLocks/>
          </p:cNvCxnSpPr>
          <p:nvPr/>
        </p:nvCxnSpPr>
        <p:spPr>
          <a:xfrm>
            <a:off x="4561750" y="2758023"/>
            <a:ext cx="422646" cy="101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AD22CCC8-FCA9-0F80-07D3-E42E92BA5FDB}"/>
              </a:ext>
            </a:extLst>
          </p:cNvPr>
          <p:cNvCxnSpPr>
            <a:cxnSpLocks/>
            <a:stCxn id="34" idx="3"/>
            <a:endCxn id="133" idx="2"/>
          </p:cNvCxnSpPr>
          <p:nvPr/>
        </p:nvCxnSpPr>
        <p:spPr>
          <a:xfrm flipV="1">
            <a:off x="2487549" y="3568517"/>
            <a:ext cx="4579618" cy="98382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A6266B4-F905-51B8-DD61-012F21439582}"/>
              </a:ext>
            </a:extLst>
          </p:cNvPr>
          <p:cNvSpPr txBox="1"/>
          <p:nvPr/>
        </p:nvSpPr>
        <p:spPr>
          <a:xfrm>
            <a:off x="3143069" y="4621581"/>
            <a:ext cx="11560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1 x1 - Prediction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D9ED8E8-B9EF-1B2A-1A52-6291124AEF4B}"/>
              </a:ext>
            </a:extLst>
          </p:cNvPr>
          <p:cNvSpPr txBox="1"/>
          <p:nvPr/>
        </p:nvSpPr>
        <p:spPr>
          <a:xfrm>
            <a:off x="6536854" y="5122"/>
            <a:ext cx="15436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Figure 1: Pipeline </a:t>
            </a:r>
          </a:p>
        </p:txBody>
      </p:sp>
      <p:pic>
        <p:nvPicPr>
          <p:cNvPr id="3" name="Graphic 2" descr="Image with solid fill">
            <a:extLst>
              <a:ext uri="{FF2B5EF4-FFF2-40B4-BE49-F238E27FC236}">
                <a16:creationId xmlns:a16="http://schemas.microsoft.com/office/drawing/2014/main" id="{803A4B99-417F-63DE-7770-7FCC1E6B4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562" y="1093107"/>
            <a:ext cx="914400" cy="9144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31FB9A26-65A2-8D64-8995-84116B7E59B3}"/>
              </a:ext>
            </a:extLst>
          </p:cNvPr>
          <p:cNvSpPr/>
          <p:nvPr/>
        </p:nvSpPr>
        <p:spPr>
          <a:xfrm>
            <a:off x="1698879" y="3248843"/>
            <a:ext cx="788670" cy="5440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MLP Tabular Encoder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C592ED0-5F35-1B67-BEBE-E2BCC8A4DFED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1112797" y="3520854"/>
            <a:ext cx="586082" cy="48746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137F0EFD-4DB5-BC3D-9456-8733A7438CE4}"/>
              </a:ext>
            </a:extLst>
          </p:cNvPr>
          <p:cNvSpPr/>
          <p:nvPr/>
        </p:nvSpPr>
        <p:spPr>
          <a:xfrm>
            <a:off x="1698879" y="4377649"/>
            <a:ext cx="788670" cy="3493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GBDT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22341B90-7230-90E5-09EE-5EAA2DB57572}"/>
              </a:ext>
            </a:extLst>
          </p:cNvPr>
          <p:cNvCxnSpPr>
            <a:endCxn id="34" idx="1"/>
          </p:cNvCxnSpPr>
          <p:nvPr/>
        </p:nvCxnSpPr>
        <p:spPr>
          <a:xfrm rot="16200000" flipH="1">
            <a:off x="1280348" y="4133806"/>
            <a:ext cx="544020" cy="29304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6C2C32C6-240B-6A55-98D2-ADA9268925C4}"/>
              </a:ext>
            </a:extLst>
          </p:cNvPr>
          <p:cNvCxnSpPr>
            <a:cxnSpLocks/>
            <a:stCxn id="24" idx="3"/>
            <a:endCxn id="28" idx="2"/>
          </p:cNvCxnSpPr>
          <p:nvPr/>
        </p:nvCxnSpPr>
        <p:spPr>
          <a:xfrm flipV="1">
            <a:off x="2487549" y="2375185"/>
            <a:ext cx="1434416" cy="114566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78F1923-08F8-2C2C-1421-AE5FBAF2D9E1}"/>
              </a:ext>
            </a:extLst>
          </p:cNvPr>
          <p:cNvSpPr txBox="1"/>
          <p:nvPr/>
        </p:nvSpPr>
        <p:spPr>
          <a:xfrm>
            <a:off x="3190955" y="1044354"/>
            <a:ext cx="111761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Early Fusion</a:t>
            </a:r>
          </a:p>
          <a:p>
            <a:pPr algn="ctr"/>
            <a:r>
              <a:rPr lang="en-US" sz="1050" dirty="0"/>
              <a:t>Shared</a:t>
            </a:r>
            <a:r>
              <a:rPr lang="en-US" sz="1400" dirty="0"/>
              <a:t> </a:t>
            </a:r>
            <a:r>
              <a:rPr lang="en-US" sz="1050" dirty="0"/>
              <a:t>Training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8E2068B-92FF-6315-F408-7A5A3106DE17}"/>
              </a:ext>
            </a:extLst>
          </p:cNvPr>
          <p:cNvSpPr txBox="1"/>
          <p:nvPr/>
        </p:nvSpPr>
        <p:spPr>
          <a:xfrm>
            <a:off x="2615649" y="3525847"/>
            <a:ext cx="7200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 1x64 </a:t>
            </a:r>
          </a:p>
          <a:p>
            <a:pPr algn="ctr"/>
            <a:r>
              <a:rPr lang="en-US" sz="1100" dirty="0"/>
              <a:t>Features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EABADA6-6A12-B7FF-2F84-038218366537}"/>
              </a:ext>
            </a:extLst>
          </p:cNvPr>
          <p:cNvSpPr txBox="1"/>
          <p:nvPr/>
        </p:nvSpPr>
        <p:spPr>
          <a:xfrm>
            <a:off x="3171719" y="510309"/>
            <a:ext cx="11560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1 x1 - Prediction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909A119-B52E-7DC3-5D16-D905AFA49BED}"/>
              </a:ext>
            </a:extLst>
          </p:cNvPr>
          <p:cNvSpPr txBox="1"/>
          <p:nvPr/>
        </p:nvSpPr>
        <p:spPr>
          <a:xfrm>
            <a:off x="4943410" y="2290736"/>
            <a:ext cx="10695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1x1-Prediction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C4E672A-05FF-DB0D-9832-D26CB426FE3F}"/>
              </a:ext>
            </a:extLst>
          </p:cNvPr>
          <p:cNvSpPr txBox="1"/>
          <p:nvPr/>
        </p:nvSpPr>
        <p:spPr>
          <a:xfrm>
            <a:off x="2356831" y="1594789"/>
            <a:ext cx="7200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1xN</a:t>
            </a:r>
          </a:p>
          <a:p>
            <a:pPr algn="ctr"/>
            <a:r>
              <a:rPr lang="en-US" sz="1100" dirty="0"/>
              <a:t>Features</a:t>
            </a:r>
          </a:p>
        </p:txBody>
      </p: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BA7EA92F-FC76-6020-18E5-B794F2B7D0BA}"/>
              </a:ext>
            </a:extLst>
          </p:cNvPr>
          <p:cNvCxnSpPr>
            <a:cxnSpLocks/>
            <a:stCxn id="11" idx="3"/>
            <a:endCxn id="28" idx="0"/>
          </p:cNvCxnSpPr>
          <p:nvPr/>
        </p:nvCxnSpPr>
        <p:spPr>
          <a:xfrm>
            <a:off x="2395728" y="1580734"/>
            <a:ext cx="1526237" cy="33278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C9362DCF-42C3-6C08-5B31-887BE7C7267A}"/>
              </a:ext>
            </a:extLst>
          </p:cNvPr>
          <p:cNvCxnSpPr>
            <a:cxnSpLocks/>
            <a:stCxn id="133" idx="1"/>
            <a:endCxn id="26" idx="3"/>
          </p:cNvCxnSpPr>
          <p:nvPr/>
        </p:nvCxnSpPr>
        <p:spPr>
          <a:xfrm flipH="1" flipV="1">
            <a:off x="5971948" y="2769596"/>
            <a:ext cx="413944" cy="113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26FFA681-FADD-2353-055A-BED67FB06406}"/>
              </a:ext>
            </a:extLst>
          </p:cNvPr>
          <p:cNvCxnSpPr>
            <a:stCxn id="11" idx="0"/>
            <a:endCxn id="133" idx="0"/>
          </p:cNvCxnSpPr>
          <p:nvPr/>
        </p:nvCxnSpPr>
        <p:spPr>
          <a:xfrm rot="16200000" flipH="1">
            <a:off x="4138993" y="-934783"/>
            <a:ext cx="1115566" cy="4740781"/>
          </a:xfrm>
          <a:prstGeom prst="bentConnector3">
            <a:avLst>
              <a:gd name="adj1" fmla="val -1393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308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62AD9-1874-9DA5-DF1A-FE6DAB4B3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A309CD62-9B8F-B4CD-2E9F-E38AF5A9A760}"/>
              </a:ext>
            </a:extLst>
          </p:cNvPr>
          <p:cNvSpPr/>
          <p:nvPr/>
        </p:nvSpPr>
        <p:spPr>
          <a:xfrm>
            <a:off x="3038003" y="983764"/>
            <a:ext cx="1532449" cy="237937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F1E7FE7-4E0C-D798-2DB5-BA115F9E5CB0}"/>
              </a:ext>
            </a:extLst>
          </p:cNvPr>
          <p:cNvCxnSpPr>
            <a:cxnSpLocks/>
          </p:cNvCxnSpPr>
          <p:nvPr/>
        </p:nvCxnSpPr>
        <p:spPr>
          <a:xfrm>
            <a:off x="1325880" y="1567053"/>
            <a:ext cx="6035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ED068F6-F81D-A4F9-0A34-395FD43BAB28}"/>
              </a:ext>
            </a:extLst>
          </p:cNvPr>
          <p:cNvSpPr txBox="1"/>
          <p:nvPr/>
        </p:nvSpPr>
        <p:spPr>
          <a:xfrm>
            <a:off x="613308" y="1950720"/>
            <a:ext cx="5938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Image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82F186E-2F05-CFF8-19D5-E836EAC13CD5}"/>
              </a:ext>
            </a:extLst>
          </p:cNvPr>
          <p:cNvGrpSpPr/>
          <p:nvPr/>
        </p:nvGrpSpPr>
        <p:grpSpPr>
          <a:xfrm>
            <a:off x="1929384" y="877824"/>
            <a:ext cx="466344" cy="1405819"/>
            <a:chOff x="1929384" y="877824"/>
            <a:chExt cx="466344" cy="1405819"/>
          </a:xfrm>
          <a:solidFill>
            <a:srgbClr val="F2E4DE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AA56F5C-BD65-2AA0-5E2B-037B0C430711}"/>
                </a:ext>
              </a:extLst>
            </p:cNvPr>
            <p:cNvSpPr/>
            <p:nvPr/>
          </p:nvSpPr>
          <p:spPr>
            <a:xfrm>
              <a:off x="1929384" y="1183386"/>
              <a:ext cx="163830" cy="83743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24D123F-3D9B-57DE-1398-B74168A3A858}"/>
                </a:ext>
              </a:extLst>
            </p:cNvPr>
            <p:cNvSpPr/>
            <p:nvPr/>
          </p:nvSpPr>
          <p:spPr>
            <a:xfrm>
              <a:off x="2093214" y="1030986"/>
              <a:ext cx="163830" cy="107213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FA749AC-5EA0-CA4D-F889-3EE52D0816E5}"/>
                </a:ext>
              </a:extLst>
            </p:cNvPr>
            <p:cNvSpPr/>
            <p:nvPr/>
          </p:nvSpPr>
          <p:spPr>
            <a:xfrm>
              <a:off x="2257044" y="877824"/>
              <a:ext cx="138684" cy="140581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9147B1E-5FFA-09B4-38E2-848B3BEF30A0}"/>
              </a:ext>
            </a:extLst>
          </p:cNvPr>
          <p:cNvSpPr txBox="1"/>
          <p:nvPr/>
        </p:nvSpPr>
        <p:spPr>
          <a:xfrm>
            <a:off x="1504447" y="2273911"/>
            <a:ext cx="1431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Image Backbone</a:t>
            </a:r>
          </a:p>
          <a:p>
            <a:pPr algn="ctr"/>
            <a:r>
              <a:rPr lang="en-US" sz="1200" dirty="0"/>
              <a:t>SWIN/EfficientNet 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857406E-3427-7B9D-0D26-22B05D9B49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827813"/>
              </p:ext>
            </p:extLst>
          </p:nvPr>
        </p:nvGraphicFramePr>
        <p:xfrm>
          <a:off x="734670" y="2726790"/>
          <a:ext cx="351155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55">
                  <a:extLst>
                    <a:ext uri="{9D8B030D-6E8A-4147-A177-3AD203B41FA5}">
                      <a16:colId xmlns:a16="http://schemas.microsoft.com/office/drawing/2014/main" val="30828684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208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76458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</a:t>
                      </a:r>
                    </a:p>
                    <a:p>
                      <a:pPr algn="ctr"/>
                      <a:r>
                        <a:rPr lang="en-US" dirty="0"/>
                        <a:t>.</a:t>
                      </a:r>
                    </a:p>
                    <a:p>
                      <a:pPr algn="ctr"/>
                      <a:r>
                        <a:rPr lang="en-US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699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81197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2EC907C-91CC-EDA4-B054-EAE969FE9975}"/>
              </a:ext>
            </a:extLst>
          </p:cNvPr>
          <p:cNvSpPr txBox="1"/>
          <p:nvPr/>
        </p:nvSpPr>
        <p:spPr>
          <a:xfrm>
            <a:off x="244327" y="4753710"/>
            <a:ext cx="1331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Metadata</a:t>
            </a:r>
          </a:p>
          <a:p>
            <a:pPr algn="ctr"/>
            <a:r>
              <a:rPr lang="en-US" sz="1200" dirty="0"/>
              <a:t>12 features(1x12)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FE4A8C-44F0-7F37-5C50-1D053786367A}"/>
              </a:ext>
            </a:extLst>
          </p:cNvPr>
          <p:cNvSpPr/>
          <p:nvPr/>
        </p:nvSpPr>
        <p:spPr>
          <a:xfrm>
            <a:off x="4984396" y="2576177"/>
            <a:ext cx="987552" cy="3868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Output</a:t>
            </a:r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9FA99A3-65A3-EDC4-E8DD-FCFB25001C5B}"/>
              </a:ext>
            </a:extLst>
          </p:cNvPr>
          <p:cNvSpPr/>
          <p:nvPr/>
        </p:nvSpPr>
        <p:spPr>
          <a:xfrm>
            <a:off x="3263637" y="1933531"/>
            <a:ext cx="1081179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(1, N+64)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concatenate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5FE4C6A-BE9D-7818-A0A7-302A8EA55989}"/>
              </a:ext>
            </a:extLst>
          </p:cNvPr>
          <p:cNvCxnSpPr>
            <a:cxnSpLocks/>
          </p:cNvCxnSpPr>
          <p:nvPr/>
        </p:nvCxnSpPr>
        <p:spPr>
          <a:xfrm>
            <a:off x="4561750" y="2758023"/>
            <a:ext cx="422646" cy="101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5D5E171-ACA0-CE87-4E1A-1D6419C712B5}"/>
              </a:ext>
            </a:extLst>
          </p:cNvPr>
          <p:cNvSpPr txBox="1"/>
          <p:nvPr/>
        </p:nvSpPr>
        <p:spPr>
          <a:xfrm>
            <a:off x="6536854" y="5122"/>
            <a:ext cx="1823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Figure 2: Early Fusion</a:t>
            </a:r>
          </a:p>
        </p:txBody>
      </p:sp>
      <p:pic>
        <p:nvPicPr>
          <p:cNvPr id="3" name="Graphic 2" descr="Image with solid fill">
            <a:extLst>
              <a:ext uri="{FF2B5EF4-FFF2-40B4-BE49-F238E27FC236}">
                <a16:creationId xmlns:a16="http://schemas.microsoft.com/office/drawing/2014/main" id="{CB17EE98-C352-9289-F8A8-2B1E781E32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562" y="1093107"/>
            <a:ext cx="914400" cy="9144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E6ED11E-1572-1341-3B43-12DB74651F95}"/>
              </a:ext>
            </a:extLst>
          </p:cNvPr>
          <p:cNvSpPr/>
          <p:nvPr/>
        </p:nvSpPr>
        <p:spPr>
          <a:xfrm>
            <a:off x="1698879" y="3248843"/>
            <a:ext cx="788670" cy="5440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MLP Tabular Encoder</a:t>
            </a: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D6F10814-3B4E-CA9C-8DC4-0601690B1C7D}"/>
              </a:ext>
            </a:extLst>
          </p:cNvPr>
          <p:cNvCxnSpPr>
            <a:cxnSpLocks/>
            <a:stCxn id="24" idx="3"/>
            <a:endCxn id="49" idx="2"/>
          </p:cNvCxnSpPr>
          <p:nvPr/>
        </p:nvCxnSpPr>
        <p:spPr>
          <a:xfrm flipV="1">
            <a:off x="2487549" y="3363143"/>
            <a:ext cx="1316679" cy="15771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3E27E6C4-4E09-6CCD-C143-3D40DF7B55CE}"/>
              </a:ext>
            </a:extLst>
          </p:cNvPr>
          <p:cNvSpPr txBox="1"/>
          <p:nvPr/>
        </p:nvSpPr>
        <p:spPr>
          <a:xfrm>
            <a:off x="3190955" y="1044354"/>
            <a:ext cx="111761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Early Fusion</a:t>
            </a:r>
          </a:p>
          <a:p>
            <a:pPr algn="ctr"/>
            <a:r>
              <a:rPr lang="en-US" sz="1050" dirty="0"/>
              <a:t>Shared</a:t>
            </a:r>
            <a:r>
              <a:rPr lang="en-US" sz="1400" dirty="0"/>
              <a:t> </a:t>
            </a:r>
            <a:r>
              <a:rPr lang="en-US" sz="1050" dirty="0"/>
              <a:t>Training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745164A-7065-5754-C7A3-2D58EE310750}"/>
              </a:ext>
            </a:extLst>
          </p:cNvPr>
          <p:cNvSpPr txBox="1"/>
          <p:nvPr/>
        </p:nvSpPr>
        <p:spPr>
          <a:xfrm>
            <a:off x="2615649" y="3525847"/>
            <a:ext cx="7200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 1x64 </a:t>
            </a:r>
          </a:p>
          <a:p>
            <a:pPr algn="ctr"/>
            <a:r>
              <a:rPr lang="en-US" sz="1100" dirty="0"/>
              <a:t>Features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74F6C0A-2B36-1A48-031E-8D53EC0370ED}"/>
              </a:ext>
            </a:extLst>
          </p:cNvPr>
          <p:cNvSpPr txBox="1"/>
          <p:nvPr/>
        </p:nvSpPr>
        <p:spPr>
          <a:xfrm>
            <a:off x="4943410" y="2290736"/>
            <a:ext cx="10695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1x1-Prediction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A79F780-4544-12D6-D356-22DFBCA79623}"/>
              </a:ext>
            </a:extLst>
          </p:cNvPr>
          <p:cNvSpPr txBox="1"/>
          <p:nvPr/>
        </p:nvSpPr>
        <p:spPr>
          <a:xfrm>
            <a:off x="2356831" y="1594789"/>
            <a:ext cx="7200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1xN</a:t>
            </a:r>
          </a:p>
          <a:p>
            <a:pPr algn="ctr"/>
            <a:r>
              <a:rPr lang="en-US" sz="1100" dirty="0"/>
              <a:t>Features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F3CEAE6-1452-8336-A5E0-8DEC1C06F3EE}"/>
              </a:ext>
            </a:extLst>
          </p:cNvPr>
          <p:cNvCxnSpPr/>
          <p:nvPr/>
        </p:nvCxnSpPr>
        <p:spPr>
          <a:xfrm>
            <a:off x="2395728" y="1435608"/>
            <a:ext cx="6811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1B22DF2-BA4D-9DDA-9689-0AE0FFFCD04F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1085825" y="3520853"/>
            <a:ext cx="61305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530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9773B-EC98-7E5C-9824-B0DF5B21C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2CE00B89-0880-A58C-9389-268861C829A0}"/>
              </a:ext>
            </a:extLst>
          </p:cNvPr>
          <p:cNvSpPr/>
          <p:nvPr/>
        </p:nvSpPr>
        <p:spPr>
          <a:xfrm>
            <a:off x="3527713" y="1844728"/>
            <a:ext cx="1362549" cy="1575127"/>
          </a:xfrm>
          <a:prstGeom prst="round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Late Fusion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Weighted average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7D719AD-1CCA-E5AA-A13E-1A6E0B2FDFE8}"/>
              </a:ext>
            </a:extLst>
          </p:cNvPr>
          <p:cNvCxnSpPr>
            <a:cxnSpLocks/>
          </p:cNvCxnSpPr>
          <p:nvPr/>
        </p:nvCxnSpPr>
        <p:spPr>
          <a:xfrm>
            <a:off x="1325880" y="1567053"/>
            <a:ext cx="6035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79F8AFA-1938-0B09-DA3E-C989D604CAB5}"/>
              </a:ext>
            </a:extLst>
          </p:cNvPr>
          <p:cNvSpPr txBox="1"/>
          <p:nvPr/>
        </p:nvSpPr>
        <p:spPr>
          <a:xfrm>
            <a:off x="613308" y="1950720"/>
            <a:ext cx="5938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Image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27B0EE6-E46D-E83B-E46E-5A6CC468C0A4}"/>
              </a:ext>
            </a:extLst>
          </p:cNvPr>
          <p:cNvGrpSpPr/>
          <p:nvPr/>
        </p:nvGrpSpPr>
        <p:grpSpPr>
          <a:xfrm>
            <a:off x="1929384" y="877824"/>
            <a:ext cx="466344" cy="1405819"/>
            <a:chOff x="1929384" y="877824"/>
            <a:chExt cx="466344" cy="1405819"/>
          </a:xfrm>
          <a:solidFill>
            <a:srgbClr val="F2E4DE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842BBCA-8E5D-D621-6CF1-2E83AE392B38}"/>
                </a:ext>
              </a:extLst>
            </p:cNvPr>
            <p:cNvSpPr/>
            <p:nvPr/>
          </p:nvSpPr>
          <p:spPr>
            <a:xfrm>
              <a:off x="1929384" y="1183386"/>
              <a:ext cx="163830" cy="837437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69A225B-5B1E-2568-D423-B9CFBE3FA554}"/>
                </a:ext>
              </a:extLst>
            </p:cNvPr>
            <p:cNvSpPr/>
            <p:nvPr/>
          </p:nvSpPr>
          <p:spPr>
            <a:xfrm>
              <a:off x="2093214" y="1030986"/>
              <a:ext cx="163830" cy="107213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E21718A-0EFD-CE7B-12E9-A36C6B558406}"/>
                </a:ext>
              </a:extLst>
            </p:cNvPr>
            <p:cNvSpPr/>
            <p:nvPr/>
          </p:nvSpPr>
          <p:spPr>
            <a:xfrm>
              <a:off x="2257044" y="877824"/>
              <a:ext cx="138684" cy="1405819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A7B2278-55D2-FD31-80A4-EA83BBF58D99}"/>
              </a:ext>
            </a:extLst>
          </p:cNvPr>
          <p:cNvSpPr txBox="1"/>
          <p:nvPr/>
        </p:nvSpPr>
        <p:spPr>
          <a:xfrm>
            <a:off x="1504447" y="2273911"/>
            <a:ext cx="1431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Image Backbone</a:t>
            </a:r>
          </a:p>
          <a:p>
            <a:pPr algn="ctr"/>
            <a:r>
              <a:rPr lang="en-US" sz="1200" dirty="0"/>
              <a:t>SWIN/EfficientNet 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1E473EA-9B19-3006-ED64-9DEF63E85C7E}"/>
              </a:ext>
            </a:extLst>
          </p:cNvPr>
          <p:cNvGraphicFramePr>
            <a:graphicFrameLocks noGrp="1"/>
          </p:cNvGraphicFramePr>
          <p:nvPr/>
        </p:nvGraphicFramePr>
        <p:xfrm>
          <a:off x="761642" y="2952359"/>
          <a:ext cx="351155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55">
                  <a:extLst>
                    <a:ext uri="{9D8B030D-6E8A-4147-A177-3AD203B41FA5}">
                      <a16:colId xmlns:a16="http://schemas.microsoft.com/office/drawing/2014/main" val="30828684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208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76458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</a:t>
                      </a:r>
                    </a:p>
                    <a:p>
                      <a:pPr algn="ctr"/>
                      <a:r>
                        <a:rPr lang="en-US" dirty="0"/>
                        <a:t>.</a:t>
                      </a:r>
                    </a:p>
                    <a:p>
                      <a:pPr algn="ctr"/>
                      <a:r>
                        <a:rPr lang="en-US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699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81197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D272200F-CF91-AEEF-04AF-186B771F9873}"/>
              </a:ext>
            </a:extLst>
          </p:cNvPr>
          <p:cNvSpPr txBox="1"/>
          <p:nvPr/>
        </p:nvSpPr>
        <p:spPr>
          <a:xfrm>
            <a:off x="520285" y="5117211"/>
            <a:ext cx="1331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Metadata</a:t>
            </a:r>
          </a:p>
          <a:p>
            <a:pPr algn="ctr"/>
            <a:r>
              <a:rPr lang="en-US" sz="1200" dirty="0"/>
              <a:t>12 features(1x12)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26D544A6-288F-963B-6A42-EFA8BB3F4192}"/>
              </a:ext>
            </a:extLst>
          </p:cNvPr>
          <p:cNvCxnSpPr>
            <a:cxnSpLocks/>
            <a:stCxn id="34" idx="3"/>
            <a:endCxn id="133" idx="2"/>
          </p:cNvCxnSpPr>
          <p:nvPr/>
        </p:nvCxnSpPr>
        <p:spPr>
          <a:xfrm flipV="1">
            <a:off x="2640794" y="3419855"/>
            <a:ext cx="1568194" cy="75986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37B00CA-5D9B-72CC-D4E4-89057C6C4C5B}"/>
              </a:ext>
            </a:extLst>
          </p:cNvPr>
          <p:cNvSpPr txBox="1"/>
          <p:nvPr/>
        </p:nvSpPr>
        <p:spPr>
          <a:xfrm>
            <a:off x="2846848" y="4223606"/>
            <a:ext cx="11560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1 x1 - Prediction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42A023-9D3D-DAC8-C803-9F1D2229EE24}"/>
              </a:ext>
            </a:extLst>
          </p:cNvPr>
          <p:cNvSpPr txBox="1"/>
          <p:nvPr/>
        </p:nvSpPr>
        <p:spPr>
          <a:xfrm>
            <a:off x="6536854" y="5122"/>
            <a:ext cx="18149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Figure 3: Late Fusion </a:t>
            </a:r>
          </a:p>
        </p:txBody>
      </p:sp>
      <p:pic>
        <p:nvPicPr>
          <p:cNvPr id="3" name="Graphic 2" descr="Image with solid fill">
            <a:extLst>
              <a:ext uri="{FF2B5EF4-FFF2-40B4-BE49-F238E27FC236}">
                <a16:creationId xmlns:a16="http://schemas.microsoft.com/office/drawing/2014/main" id="{56B5E141-8ED0-86F7-1021-4285B0C477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562" y="1093107"/>
            <a:ext cx="914400" cy="9144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7189AE51-8C2D-E663-B15D-54AE0EBC5B37}"/>
              </a:ext>
            </a:extLst>
          </p:cNvPr>
          <p:cNvSpPr/>
          <p:nvPr/>
        </p:nvSpPr>
        <p:spPr>
          <a:xfrm>
            <a:off x="1852124" y="4005036"/>
            <a:ext cx="788670" cy="3493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GBDT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D1FECB8-114D-7D08-8B6F-D98FB47AA873}"/>
              </a:ext>
            </a:extLst>
          </p:cNvPr>
          <p:cNvSpPr txBox="1"/>
          <p:nvPr/>
        </p:nvSpPr>
        <p:spPr>
          <a:xfrm>
            <a:off x="2636636" y="1272066"/>
            <a:ext cx="11560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1 x1 - Prediction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CB3467-9613-38C9-1A5B-F06AABB64169}"/>
              </a:ext>
            </a:extLst>
          </p:cNvPr>
          <p:cNvCxnSpPr>
            <a:endCxn id="34" idx="1"/>
          </p:cNvCxnSpPr>
          <p:nvPr/>
        </p:nvCxnSpPr>
        <p:spPr>
          <a:xfrm>
            <a:off x="1112797" y="4179724"/>
            <a:ext cx="7393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4BFCEA54-841D-1A95-120A-F7CBA3C30C31}"/>
              </a:ext>
            </a:extLst>
          </p:cNvPr>
          <p:cNvCxnSpPr>
            <a:stCxn id="11" idx="3"/>
            <a:endCxn id="133" idx="0"/>
          </p:cNvCxnSpPr>
          <p:nvPr/>
        </p:nvCxnSpPr>
        <p:spPr>
          <a:xfrm>
            <a:off x="2395728" y="1580734"/>
            <a:ext cx="1813260" cy="2639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33B3B30-C588-3EC7-02A2-E8168590C680}"/>
              </a:ext>
            </a:extLst>
          </p:cNvPr>
          <p:cNvSpPr/>
          <p:nvPr/>
        </p:nvSpPr>
        <p:spPr>
          <a:xfrm>
            <a:off x="3715211" y="2928864"/>
            <a:ext cx="987552" cy="3868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054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139</Words>
  <Application>Microsoft Office PowerPoint</Application>
  <PresentationFormat>Widescreen</PresentationFormat>
  <Paragraphs>69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ALIGHIAS</dc:creator>
  <cp:lastModifiedBy>ALIGHIAS</cp:lastModifiedBy>
  <cp:revision>6</cp:revision>
  <dcterms:created xsi:type="dcterms:W3CDTF">2026-01-13T10:20:18Z</dcterms:created>
  <dcterms:modified xsi:type="dcterms:W3CDTF">2026-01-13T11:13:54Z</dcterms:modified>
</cp:coreProperties>
</file>